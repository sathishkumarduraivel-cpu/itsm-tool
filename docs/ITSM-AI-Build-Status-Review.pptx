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Calibri"/>
              </a:rPr>
              <a:t>62 automated tests by module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SLA &amp; business hours</c:v>
                  </c:pt>
                  <c:pt idx="1">
                    <c:v>MFA / TOTP</c:v>
                  </c:pt>
                  <c:pt idx="2">
                    <c:v>Business rules</c:v>
                  </c:pt>
                  <c:pt idx="3">
                    <c:v>Permissions</c:v>
                  </c:pt>
                  <c:pt idx="4">
                    <c:v>Ticket tasks</c:v>
                  </c:pt>
                  <c:pt idx="5">
                    <c:v>Workflow graph</c:v>
                  </c:pt>
                  <c:pt idx="6">
                    <c:v>Smoke / isolation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9</c:v>
                </c:pt>
                <c:pt idx="5">
                  <c:v>6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Calibri"/>
              </a:rPr>
              <a:t>Indicative annual cost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Per-agent SaaS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415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 agents</c:v>
                  </c:pt>
                  <c:pt idx="1">
                    <c:v>25 agents</c:v>
                  </c:pt>
                  <c:pt idx="2">
                    <c:v>50 agents</c:v>
                  </c:pt>
                  <c:pt idx="3">
                    <c:v>100 agents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4800</c:v>
                </c:pt>
                <c:pt idx="1">
                  <c:v>12000</c:v>
                </c:pt>
                <c:pt idx="2">
                  <c:v>24000</c:v>
                </c:pt>
                <c:pt idx="3">
                  <c:v>48000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ITSM AI (self-hosted)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415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 agents</c:v>
                  </c:pt>
                  <c:pt idx="1">
                    <c:v>25 agents</c:v>
                  </c:pt>
                  <c:pt idx="2">
                    <c:v>50 agents</c:v>
                  </c:pt>
                  <c:pt idx="3">
                    <c:v>100 agents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84</c:v>
                </c:pt>
                <c:pt idx="1">
                  <c:v>84</c:v>
                </c:pt>
                <c:pt idx="2">
                  <c:v>84</c:v>
                </c:pt>
                <c:pt idx="3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33415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this review: confirm the platform is ready for a pilot, and get two decisions - pilot scope and hosting tier. 15 slides, about 12 minutes, questions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Answer-first. If they only remember one slide, this is it. Status is green; the only thing blocking a pilot is a decision, not engineering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- it is the business case, not a vendor bash. The two points that matter to leadership: cost does not scale with headcount, and we are not locked to one AI vendor.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commitments, one per column. The middle one is the differentiator - competitors bolt AI on and lock it to their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twelve out loud. Say: this is the full ITIL surface, everything here is working, and offer to demo any one of them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counted from the codebase, not guessed. The two green numbers are the quality story: tests all pass, and npm audit is clean - it was six vulnerabilities in August.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The commercial point: if a cheaper or better model appears next quarter, we switch in a settings screen. Sona - the last tile - is the newest, it turns a plain English request into a validated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this slide to security early. Everything listed is implemented and in the repo today - none of it is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accountability slide. Every item on the left came from the August review document; every item on the right is verified in the codebase today. Offer the detail if anyone wants to audit a specific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not the number 62 - it is that the riskiest logic (SLA maths, permissions, workspace isolation) is the most heavily tested, and CI enforces it on every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free-tier caveat in the bottom-right box - it is the main reason we need a hosting decision. Seven dollars a month removes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caveat out loud before anyone asks: the grey bars are an illustrative list price, not a quote we hold. The shape of the curve is the point, not the exact number. Also name the trade-off - we take on the ops burden.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here - the test coverage gap on the front end and the absence of load testing are the two things I would want challenged. Postgres is deliberately in LATER; it is not needed unless we go multi-instance.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leave the room without answers to one and two. Three and four can follow by email. Have the $7 versus $25 hosting numbers ready if they push on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not on thank-you. Repeat the two decisions and propose a date for the pilot kickoff if they say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3840480" cy="3840480"/>
          </a:xfrm>
          <a:prstGeom prst="ellipse">
            <a:avLst/>
          </a:prstGeom>
          <a:solidFill>
            <a:srgbClr val="4F46E5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40080"/>
            <a:ext cx="2103120" cy="2103120"/>
          </a:xfrm>
          <a:prstGeom prst="ellipse">
            <a:avLst/>
          </a:prstGeom>
          <a:solidFill>
            <a:srgbClr val="0891B2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017520"/>
            <a:ext cx="1371600" cy="1371600"/>
          </a:xfrm>
          <a:prstGeom prst="roundRect">
            <a:avLst>
              <a:gd name="adj" fmla="val 20000"/>
            </a:avLst>
          </a:prstGeom>
          <a:solidFill>
            <a:srgbClr val="CADCFC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7276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ITSM AI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61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Status &amp; Roadmap Review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self-hosted, AI-native alternative to ServiceNow and ServiceDesk Plus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4224528"/>
            <a:ext cx="2156155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4224528"/>
            <a:ext cx="21561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~33,000 lines of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69387" y="4224528"/>
            <a:ext cx="179771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69387" y="4224528"/>
            <a:ext cx="1797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 API endpoints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13402" y="4224528"/>
            <a:ext cx="1708099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13402" y="4224528"/>
            <a:ext cx="17080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tests passing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67805" y="4224528"/>
            <a:ext cx="1618488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7805" y="4224528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live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8704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Sathish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version, before the detail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67528" cy="2048256"/>
          </a:xfrm>
          <a:prstGeom prst="roundRect">
            <a:avLst>
              <a:gd name="adj" fmla="val 3125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836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1883664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432304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 IT Service Management platform covering the full ticket lifecycle, with AI built into the core rather than sold as an add-on.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27064" y="1572768"/>
            <a:ext cx="5367528" cy="2048256"/>
          </a:xfrm>
          <a:prstGeom prst="roundRect">
            <a:avLst>
              <a:gd name="adj" fmla="val 3125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836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883664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32304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Feature-complete and deployed. All ten pre-launch blockers raised in the August review are now closed and verified.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895344"/>
            <a:ext cx="5367528" cy="2048256"/>
          </a:xfrm>
          <a:prstGeom prst="roundRect">
            <a:avLst>
              <a:gd name="adj" fmla="val 3125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42062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26464" y="4206240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475488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ITSM modules, ~33,000 lines of code, 282 API endpoints, 31 screens, and 62 automated tests running on every push.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27064" y="3895344"/>
            <a:ext cx="5367528" cy="2048256"/>
          </a:xfrm>
          <a:prstGeom prst="roundRect">
            <a:avLst>
              <a:gd name="adj" fmla="val 3125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062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06240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75488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from you: how far the pilot goes, and which hosting tier we run it on. Everything else is scoped and waiting.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built our own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and lock-in problem with the incumbents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5330952" cy="4114800"/>
          </a:xfrm>
          <a:prstGeom prst="roundRect">
            <a:avLst>
              <a:gd name="adj" fmla="val 15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901952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ITSM off the shelf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96112" y="2542032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487168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cost scales with every agent you add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96112" y="3145536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09067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locked to one vendor's model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749040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694176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advanced modules cost extra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4352544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297680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implementation before any value lands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6112" y="4956048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490118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service-desk data lives on their estate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1609344"/>
            <a:ext cx="5330952" cy="4114800"/>
          </a:xfrm>
          <a:prstGeom prst="roundRect">
            <a:avLst>
              <a:gd name="adj" fmla="val 1556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92824" y="1901952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instead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592824" y="2542032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92824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487168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infrastructure cost - no per-agent fee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92824" y="3145536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92824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309067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provider, swappable in settings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92824" y="3749040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2824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3694176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engine included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92824" y="4352544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92824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4297680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one service; deploys in minutes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92824" y="4956048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92824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995160" y="490118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- the data stays with us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commitments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 from a ticket tracker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493008" cy="4114800"/>
          </a:xfrm>
          <a:prstGeom prst="roundRect">
            <a:avLst>
              <a:gd name="adj" fmla="val 183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8366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724912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ITSM suite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456432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Incidents, service requests, problems, changes with CAB approval, assets and CMDB, service catalog, knowledge base, SLAs, HR cases and procurement - the whole ITIL surface, not just a queue.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1609344"/>
            <a:ext cx="3493008" cy="4114800"/>
          </a:xfrm>
          <a:prstGeom prst="roundRect">
            <a:avLst>
              <a:gd name="adj" fmla="val 1832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45152" y="188366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2724912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core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3456432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AI capabilities sit inside everyday workflows: summarise, categorise, suggest a resolution, find root cause, brief the dashboard, and build reports from plain English.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609344"/>
            <a:ext cx="3493008" cy="4114800"/>
          </a:xfrm>
          <a:prstGeom prst="roundRect">
            <a:avLst>
              <a:gd name="adj" fmla="val 1832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0" y="188366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724912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Self-hosted &amp; portable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456432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Node service serves both the API and the UI, on a database with no native dependencies. It runs on a laptop, a VM, or a $7 cloud box - our choice, not a vendor's.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modules, all working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85416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&amp; Requests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78024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lifecycle, SLA timers, tasks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8708" y="1609344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6452" y="1828800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645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6452" y="2185416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Management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16452" y="2478024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and known errors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0488" y="1609344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1828800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2185416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 CAB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2478024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windows, rollback, gated approval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2268" y="1609344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40012" y="1828800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4001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40012" y="2185416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&amp; CMDB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40012" y="2478024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plus dependency impact map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145536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3364992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3721608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4014216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forms that auto-create tickets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78708" y="3145536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6452" y="3364992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1645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616452" y="3721608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616452" y="4014216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inbox for catalog and CAB sign-off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0488" y="3145536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28232" y="3364992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2823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28232" y="3721608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28232" y="4014216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self-service articles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02268" y="3145536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40012" y="3364992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4001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240012" y="3721608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Business Hours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240012" y="4014216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matching and at-risk alerts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" y="4681728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4672" y="4901184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4672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804672" y="5257800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Incidents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04672" y="5550408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Declare, coordinate and communicate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378708" y="4681728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16452" y="4901184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616452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3616452" y="5257800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Cases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3616452" y="5550408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offboarding workflows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90488" y="4681728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28232" y="4901184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28232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28232" y="5257800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428232" y="5550408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renewals, purchase orders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002268" y="4681728"/>
            <a:ext cx="259232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240012" y="4901184"/>
            <a:ext cx="292608" cy="292608"/>
          </a:xfrm>
          <a:prstGeom prst="roundRect">
            <a:avLst>
              <a:gd name="adj" fmla="val 6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40012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9240012" y="5257800"/>
            <a:ext cx="2116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9240012" y="5550408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trigger, condition and action builder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108960" cy="3108960"/>
          </a:xfrm>
          <a:prstGeom prst="ellipse">
            <a:avLst/>
          </a:prstGeom>
          <a:solidFill>
            <a:srgbClr val="4F46E5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11027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6070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 the repository, not estimated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3493008" cy="1901952"/>
          </a:xfrm>
          <a:prstGeom prst="roundRect">
            <a:avLst>
              <a:gd name="adj" fmla="val 3846"/>
            </a:avLst>
          </a:prstGeom>
          <a:solidFill>
            <a:srgbClr val="2B3160"/>
          </a:solidFill>
          <a:ln w="12700">
            <a:solidFill>
              <a:srgbClr val="3D44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029968"/>
            <a:ext cx="28712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~33,000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926080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1700784"/>
            <a:ext cx="3493008" cy="1901952"/>
          </a:xfrm>
          <a:prstGeom prst="roundRect">
            <a:avLst>
              <a:gd name="adj" fmla="val 3846"/>
            </a:avLst>
          </a:prstGeom>
          <a:solidFill>
            <a:srgbClr val="2B3160"/>
          </a:solidFill>
          <a:ln w="12700">
            <a:solidFill>
              <a:srgbClr val="3D44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5152" y="2029968"/>
            <a:ext cx="28712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2926080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01584" y="1700784"/>
            <a:ext cx="3493008" cy="1901952"/>
          </a:xfrm>
          <a:prstGeom prst="roundRect">
            <a:avLst>
              <a:gd name="adj" fmla="val 3846"/>
            </a:avLst>
          </a:prstGeom>
          <a:solidFill>
            <a:srgbClr val="2B3160"/>
          </a:solidFill>
          <a:ln w="12700">
            <a:solidFill>
              <a:srgbClr val="3D44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029968"/>
            <a:ext cx="28712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926080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877056"/>
            <a:ext cx="3493008" cy="1901952"/>
          </a:xfrm>
          <a:prstGeom prst="roundRect">
            <a:avLst>
              <a:gd name="adj" fmla="val 3846"/>
            </a:avLst>
          </a:prstGeom>
          <a:solidFill>
            <a:srgbClr val="2B3160"/>
          </a:solidFill>
          <a:ln w="12700">
            <a:solidFill>
              <a:srgbClr val="3D4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" y="4206240"/>
            <a:ext cx="28712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5102352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screens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3877056"/>
            <a:ext cx="3493008" cy="1901952"/>
          </a:xfrm>
          <a:prstGeom prst="roundRect">
            <a:avLst>
              <a:gd name="adj" fmla="val 3846"/>
            </a:avLst>
          </a:prstGeom>
          <a:solidFill>
            <a:srgbClr val="2B3160"/>
          </a:solidFill>
          <a:ln w="12700">
            <a:solidFill>
              <a:srgbClr val="3D44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45152" y="4206240"/>
            <a:ext cx="28712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4645152" y="5102352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passing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01584" y="3877056"/>
            <a:ext cx="3493008" cy="1901952"/>
          </a:xfrm>
          <a:prstGeom prst="roundRect">
            <a:avLst>
              <a:gd name="adj" fmla="val 3846"/>
            </a:avLst>
          </a:prstGeom>
          <a:solidFill>
            <a:srgbClr val="2B3160"/>
          </a:solidFill>
          <a:ln w="12700">
            <a:solidFill>
              <a:srgbClr val="3D44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4206240"/>
            <a:ext cx="28712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5102352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dependency vulnerabilities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isn't locked to one vendor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model - swap it without touching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4069080" cy="4114800"/>
          </a:xfrm>
          <a:prstGeom prst="roundRect">
            <a:avLst>
              <a:gd name="adj" fmla="val 1573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47088"/>
            <a:ext cx="3447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provider families supported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70432" y="23957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- and any compatible endpoint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95351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70432" y="28529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41071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70432" y="3310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70432" y="37673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32511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70432" y="42245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- runs fully local, zero cost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78231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70432" y="46817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custom OpenAI-shaped endpoint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5138928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encrypted at rest. Switching provider is a settings change, not a release.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46904" y="1609344"/>
            <a:ext cx="6647688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257800" y="1847088"/>
            <a:ext cx="6025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AI capabilities shipped in the product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257800" y="243230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04104" y="243230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 ticket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80476" y="243230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26780" y="243230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 resolution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57800" y="298094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04104" y="298094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80476" y="298094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26780" y="298094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Auto-categorise on arrival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257800" y="352958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04104" y="352958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briefing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80476" y="352958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26780" y="352958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the service desk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257800" y="407822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04104" y="407822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 automation workflow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80476" y="407822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26780" y="407822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HR case tasks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257800" y="462686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04104" y="462686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problem record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380476" y="462686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26780" y="462686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triage for end users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257800" y="517550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04104" y="517550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my own tickets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380476" y="5175504"/>
            <a:ext cx="2903220" cy="45720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26780" y="5175504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Sona: plain English to a report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controls, already 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security and IT ask about before a rollout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6752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922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46504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2082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with hashed recovery codes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27064" y="1645920"/>
            <a:ext cx="536752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7922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8232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0296" y="1746504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40296" y="202082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 Microsoft OIDC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468880"/>
            <a:ext cx="536752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261518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569464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sync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4378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and Microsoft Graph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27064" y="2468880"/>
            <a:ext cx="536752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261518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28232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0296" y="2569464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roles &amp; permissions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40296" y="284378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Granular, per-workspace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291840"/>
            <a:ext cx="536752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343814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3392424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workspaces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66674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covered by tests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27064" y="3291840"/>
            <a:ext cx="536752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8232" y="343814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28232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40296" y="3392424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940296" y="366674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what, and when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114800"/>
            <a:ext cx="536752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42611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215384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encrypted at rest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448970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webhook secrets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27064" y="4114800"/>
            <a:ext cx="536752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42611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28232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40296" y="4215384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security headers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940296" y="448970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HSTS, X-Frame-Options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" y="4937760"/>
            <a:ext cx="536752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" y="50840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8096" y="5084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280160" y="5038344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export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1280160" y="531266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workspace, plus whole-database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27064" y="4937760"/>
            <a:ext cx="536752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28232" y="50840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28232" y="5084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6940296" y="5038344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REST API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6940296" y="531266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revocable API keys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pre-launch blocker is closed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register from the 4 August review, revisited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743200" cy="4078224"/>
          </a:xfrm>
          <a:prstGeom prst="roundRect">
            <a:avLst>
              <a:gd name="adj" fmla="val 2333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2212848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32461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closed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3767328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4 Aug 2026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21 Sep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84448" y="1627632"/>
            <a:ext cx="8010144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1627632"/>
            <a:ext cx="3364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plaintext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08911" y="162763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627632"/>
            <a:ext cx="384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037283"/>
            <a:ext cx="3364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default JWT secret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08911" y="2037283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037283"/>
            <a:ext cx="384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Hard-fails in production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84448" y="2446934"/>
            <a:ext cx="8010144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2446934"/>
            <a:ext cx="3364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08911" y="244693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446934"/>
            <a:ext cx="384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on all API routes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2856586"/>
            <a:ext cx="3364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wide open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08911" y="285658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856586"/>
            <a:ext cx="384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a configured origin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84448" y="3266237"/>
            <a:ext cx="8010144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3266237"/>
            <a:ext cx="3364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only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08911" y="3266237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3266237"/>
            <a:ext cx="384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terminated at the platform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3675888"/>
            <a:ext cx="3364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 simulated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08911" y="367588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3675888"/>
            <a:ext cx="384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SMTP and Microsoft Graph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84448" y="4085539"/>
            <a:ext cx="8010144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49040" y="4085539"/>
            <a:ext cx="3364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08911" y="4085539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4085539"/>
            <a:ext cx="384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tests across 18 suites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749040" y="4495190"/>
            <a:ext cx="3364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control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08911" y="449519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0" y="4495190"/>
            <a:ext cx="384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pushed to GitHub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84448" y="4904842"/>
            <a:ext cx="8010144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749040" y="4904842"/>
            <a:ext cx="3364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 pipeline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08911" y="490484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589520" y="4904842"/>
            <a:ext cx="384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on every push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749040" y="5314493"/>
            <a:ext cx="3364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npm vulnerabilities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108911" y="5314493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5314493"/>
            <a:ext cx="384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vulnerabilities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is measured, not asserted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run on every push, before anything ships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6629400" cy="4078224"/>
          </a:xfrm>
          <a:prstGeom prst="roundRect">
            <a:avLst>
              <a:gd name="adj" fmla="val 15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86384" y="1828800"/>
          <a:ext cx="619048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70648" y="1627632"/>
            <a:ext cx="4123944" cy="1261872"/>
          </a:xfrm>
          <a:prstGeom prst="roundRect">
            <a:avLst>
              <a:gd name="adj" fmla="val 507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08392" y="1792224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08392" y="2121408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runs the full suite plus a production build. A red build blocks the merge.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70648" y="3026664"/>
            <a:ext cx="4123944" cy="1261872"/>
          </a:xfrm>
          <a:prstGeom prst="roundRect">
            <a:avLst>
              <a:gd name="adj" fmla="val 5072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08392" y="3191256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health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08392" y="3520440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reports zero vulnerabilities, down from six - all patched in range.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70648" y="4425696"/>
            <a:ext cx="4123944" cy="1261872"/>
          </a:xfrm>
          <a:prstGeom prst="roundRect">
            <a:avLst>
              <a:gd name="adj" fmla="val 5072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08392" y="4590288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08392" y="4919472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review found one real issue - a spoofable inbound email header. Fixed and verified.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to run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today on a single cloud service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029200" cy="4078224"/>
          </a:xfrm>
          <a:prstGeom prst="roundRect">
            <a:avLst>
              <a:gd name="adj" fmla="val 15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1865376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deployed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59536" y="2359152"/>
            <a:ext cx="347472" cy="347472"/>
          </a:xfrm>
          <a:prstGeom prst="roundRect">
            <a:avLst>
              <a:gd name="adj" fmla="val 5789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34086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651760"/>
            <a:ext cx="3968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Node process serves both the API and the React app from one origin - no second service, no cross-origin auth to manage.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" y="3438144"/>
            <a:ext cx="347472" cy="347472"/>
          </a:xfrm>
          <a:prstGeom prst="roundRect">
            <a:avLst>
              <a:gd name="adj" fmla="val 5789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341985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server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730752"/>
            <a:ext cx="3968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 embedded database with no native build step, so there is nothing extra to provision or patch.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536" y="4517136"/>
            <a:ext cx="347472" cy="347472"/>
          </a:xfrm>
          <a:prstGeom prst="roundRect">
            <a:avLst>
              <a:gd name="adj" fmla="val 5789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449884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deploy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4809744"/>
            <a:ext cx="3968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to the deployment branch triggers a build and release automatically.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88736" y="1627632"/>
            <a:ext cx="5705856" cy="4078224"/>
          </a:xfrm>
          <a:prstGeom prst="roundRect">
            <a:avLst>
              <a:gd name="adj" fmla="val 157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181344" y="18653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cost today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26480" y="2322576"/>
            <a:ext cx="52303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2395728"/>
            <a:ext cx="267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licence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670048"/>
            <a:ext cx="30160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no per-agent fee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325417" y="2395728"/>
            <a:ext cx="17571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126480" y="3035808"/>
            <a:ext cx="52303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108960"/>
            <a:ext cx="267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383280"/>
            <a:ext cx="30160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today; paid tier per month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325417" y="3108960"/>
            <a:ext cx="17571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$0 - $7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126480" y="3749040"/>
            <a:ext cx="52303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3822192"/>
            <a:ext cx="267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4096512"/>
            <a:ext cx="30160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key - $0 on a local model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325417" y="3822192"/>
            <a:ext cx="17571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per use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126480" y="4462272"/>
            <a:ext cx="52303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4535424"/>
            <a:ext cx="2675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extra agent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4809744"/>
            <a:ext cx="30160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does not change the bill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325417" y="4535424"/>
            <a:ext cx="17571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144768" y="5248656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free tier idles the service after inactivity and resets demo data on each deploy. A paid tier with persistent storage is required before real users.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doesn't scale with headcount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difference between self-hosted and per-agent licensing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7315200" cy="4078224"/>
          </a:xfrm>
          <a:prstGeom prst="roundRect">
            <a:avLst>
              <a:gd name="adj" fmla="val 15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04672" y="1865376"/>
          <a:ext cx="6839712" cy="31821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4672" y="5193792"/>
            <a:ext cx="6839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only: per-agent SaaS modelled at $40 per agent per month list price. Replace with our actual vendor quote before any budget decision. The ITSM AI bars are the $7 per month paid hosting tier.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156448" y="1627632"/>
            <a:ext cx="3438144" cy="4078224"/>
          </a:xfrm>
          <a:prstGeom prst="roundRect">
            <a:avLst>
              <a:gd name="adj" fmla="val 186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0" y="18836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gap widens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37744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 bills per agent, so the cost curve follows headcount.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Self-hosting bills for a server, which does not care how many people log in.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stays usage-based on our own key, and drops to zero on a local model.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 is that we own the operations: patching, backups and uptime are ours.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sequenced, and honest about the gaps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493008" cy="4078224"/>
          </a:xfrm>
          <a:prstGeom prst="roundRect">
            <a:avLst>
              <a:gd name="adj" fmla="val 183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4942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2-4 weeks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41248" y="2743200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25296" y="268833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paid hosting with persistent storage so data survives a deploy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3712464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front-end and end-to-end tests - today's 62 tests cover the back end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4681728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46268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with realistic ticket volume to find the ceiling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4256" y="1627632"/>
            <a:ext cx="3493008" cy="4078224"/>
          </a:xfrm>
          <a:prstGeom prst="roundRect">
            <a:avLst>
              <a:gd name="adj" fmla="val 1832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08576" y="1865376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224942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08576" y="2743200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08576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92624" y="268833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simulated Jira integration with a real one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08576" y="3712464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08576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992624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pilot with a real team and a weekly feedback loop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08576" y="4681728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08576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992624" y="46268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the go-live checklist and an operations runbook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01584" y="1627632"/>
            <a:ext cx="3493008" cy="4078224"/>
          </a:xfrm>
          <a:prstGeom prst="roundRect">
            <a:avLst>
              <a:gd name="adj" fmla="val 183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375904" y="1865376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375904" y="224942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we need it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75904" y="2743200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75904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759952" y="268833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PostgreSQL - required only for multi-instance deployment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75904" y="3712464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75904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759952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behind a load balancer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75904" y="4681728"/>
            <a:ext cx="274320" cy="274320"/>
          </a:xfrm>
          <a:prstGeom prst="roundRect">
            <a:avLst>
              <a:gd name="adj" fmla="val 7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75904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759952" y="46268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disaster-recovery drill and restore test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need from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- everything else is already scoped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5367528" cy="2048256"/>
          </a:xfrm>
          <a:prstGeom prst="roundRect">
            <a:avLst>
              <a:gd name="adj" fmla="val 3125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0195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901952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scope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450592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run a pilot with a real team, or does this stay an internal proof of concept?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145536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urgency of everything below.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27064" y="1609344"/>
            <a:ext cx="5367528" cy="2048256"/>
          </a:xfrm>
          <a:prstGeom prst="roundRect">
            <a:avLst>
              <a:gd name="adj" fmla="val 3125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190195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1901952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tier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450592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the free tier, where data resets on each deploy, or move to paid storage?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145536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blocker before real users touch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931920"/>
            <a:ext cx="5367528" cy="2048256"/>
          </a:xfrm>
          <a:prstGeom prst="roundRect">
            <a:avLst>
              <a:gd name="adj" fmla="val 3125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" y="42245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4224528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" y="4773168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pilot need a real Jira link, or are Slack, Teams and email enough?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5468112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already real; Jira is still simulated.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27064" y="3931920"/>
            <a:ext cx="5367528" cy="2048256"/>
          </a:xfrm>
          <a:prstGeom prst="roundRect">
            <a:avLst>
              <a:gd name="adj" fmla="val 3125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94A3B8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19672" y="42245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9672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68312" y="4224528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target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4773168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agents and tickets a month should this be built to carry?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5468112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whether PostgreSQL is in scope at all.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4F46E5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005840"/>
            <a:ext cx="2926080" cy="292608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3716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a pilot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03504" y="2679192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420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feature-complete and deployed today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" y="324612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089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pre-launch blockers from August are closed and verified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" y="3813048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67588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is scoped - and waits on your call, not on engineering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4572000"/>
            <a:ext cx="8229600" cy="859536"/>
          </a:xfrm>
          <a:prstGeom prst="roundRect">
            <a:avLst>
              <a:gd name="adj" fmla="val 12766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4572000"/>
            <a:ext cx="7589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 today: pilot scope and hosting tier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7972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ITSM AI - Build Status &amp; Roadmap Review</dc:title>
  <dc:subject>PptxGenJS Presentation</dc:subject>
  <dc:creator>Sathish</dc:creator>
  <cp:lastModifiedBy>Sathish</cp:lastModifiedBy>
  <cp:revision>1</cp:revision>
  <dcterms:created xsi:type="dcterms:W3CDTF">2026-09-21T10:40:59Z</dcterms:created>
  <dcterms:modified xsi:type="dcterms:W3CDTF">2026-09-21T10:40:59Z</dcterms:modified>
</cp:coreProperties>
</file>